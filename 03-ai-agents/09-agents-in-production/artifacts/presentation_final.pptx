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Abrir com um gancho comercial conectando engenharia aplicada à Jornada de Dados.</a:t>
            </a:r>
          </a:p>
          <a:p/>
          <a:p>
            <a:r>
              <a:t>Bullets:</a:t>
            </a:r>
          </a:p>
          <a:p>
            <a:r>
              <a:t>  • Sistemas de IA, RAG e agentes em produção</a:t>
            </a:r>
          </a:p>
          <a:p>
            <a:r>
              <a:t>  • Arquitetura, orquestração, observabilidade e deploy</a:t>
            </a:r>
          </a:p>
          <a:p>
            <a:r>
              <a:t>  • De desenvolvedor → AI Engineer</a:t>
            </a:r>
          </a:p>
          <a:p/>
          <a:p>
            <a:r>
              <a:t>Mensagem principal: Uma formação prática para transformar modelos em produtos confiáveis.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Contextualizar a trajetória e o foco em confiabilidade, avaliação e produção.</a:t>
            </a:r>
          </a:p>
          <a:p/>
          <a:p>
            <a:r>
              <a:t>Bullets:</a:t>
            </a:r>
          </a:p>
          <a:p>
            <a:r>
              <a:t>  • Você vai construir sistemas de IA que funcionam no mundo real</a:t>
            </a:r>
          </a:p>
          <a:p>
            <a:r>
              <a:t>  • Structured outputs + guardrails para reduzir fragilidade</a:t>
            </a:r>
          </a:p>
          <a:p>
            <a:r>
              <a:t>  • RAG com avaliação/observabilidade para manter qualidade contínua</a:t>
            </a:r>
          </a:p>
          <a:p>
            <a:r>
              <a:t>  • Agentes orquestrados com memória, ferramentas e human-in-the-loop</a:t>
            </a:r>
          </a:p>
          <a:p/>
          <a:p>
            <a:r>
              <a:t>Mensagem principal: Eu trago uma mentalidade de engenharia: qualidade, custo e governança.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Definir o papel do AI Engineer e explicar como a trilha reduz o hype e foca em produção.</a:t>
            </a:r>
          </a:p>
          <a:p/>
          <a:p>
            <a:r>
              <a:t>Bullets:</a:t>
            </a:r>
          </a:p>
          <a:p>
            <a:r>
              <a:t>  • AI Engineer: arquiteta contexto, dados, fluxos e validações para LLMs</a:t>
            </a:r>
          </a:p>
          <a:p>
            <a:r>
              <a:t>  • Transformar probabilístico → determinístico e confiável</a:t>
            </a:r>
          </a:p>
          <a:p>
            <a:r>
              <a:t>  • Domínios práticos: Python assíncrono, APIs, dados, Vector DB, observabilidade</a:t>
            </a:r>
          </a:p>
          <a:p>
            <a:r>
              <a:t>  • Desafios reais: alucinações, custos, latência e segurança</a:t>
            </a:r>
          </a:p>
          <a:p/>
          <a:p>
            <a:r>
              <a:t>Mensagem principal: Você não aprende só a promptar: aprende a operar sistemas de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Situar o Bloco 1 e mostrar as competências técnicas-base para produção.</a:t>
            </a:r>
          </a:p>
          <a:p/>
          <a:p>
            <a:r>
              <a:t>Bullets:</a:t>
            </a:r>
          </a:p>
          <a:p>
            <a:r>
              <a:t>  • Base técnica para sistemas probabilísticos, assíncronos e orientados a produção</a:t>
            </a:r>
          </a:p>
          <a:p>
            <a:r>
              <a:t>  • Contratos estruturados para outputs de LLM (Pydantic/JSON Schema)</a:t>
            </a:r>
          </a:p>
          <a:p>
            <a:r>
              <a:t>  • APIs assíncronas e integração com RAG/Modelos</a:t>
            </a:r>
          </a:p>
          <a:p>
            <a:r>
              <a:t>  • Armazenamento híbrido: SQL + Vector DB</a:t>
            </a:r>
          </a:p>
          <a:p/>
          <a:p>
            <a:r>
              <a:t>Mensagem principal: Fundamentos de software robusto com núcleo probabilístico e dependências externas.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Consolidar os principais temas do Bloco 1 em um plano executável.</a:t>
            </a:r>
          </a:p>
          <a:p/>
          <a:p>
            <a:r>
              <a:t>Bullets:</a:t>
            </a:r>
          </a:p>
          <a:p>
            <a:r>
              <a:t>  • Papel profissional e mindset de produto/sistemas</a:t>
            </a:r>
          </a:p>
          <a:p>
            <a:r>
              <a:t>  • Física dos LLMs + estratégias (quando RAG vs fine-tuning)</a:t>
            </a:r>
          </a:p>
          <a:p>
            <a:r>
              <a:t>  • Python moderno: tipagem, AsyncIO, resiliência (retries)</a:t>
            </a:r>
          </a:p>
          <a:p>
            <a:r>
              <a:t>  • FastAPI: contratos, validação e OpenAPI</a:t>
            </a:r>
          </a:p>
          <a:p>
            <a:r>
              <a:t>  • Modelagem e contratos de dados: schemas, validadores e parsing com retries</a:t>
            </a:r>
          </a:p>
          <a:p>
            <a:r>
              <a:t>  • Databases: embeddings, métricas (cosseno/dot) e arquitetura híbrida SQL+Vetorial</a:t>
            </a:r>
          </a:p>
          <a:p/>
          <a:p>
            <a:r>
              <a:t>Mensagem principal: Você cria a “infra de confiabilidade” para sustentar LLMs em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Definir RAG e preparar o aluno para ingestion, retrieval, avaliação e deploy.</a:t>
            </a:r>
          </a:p>
          <a:p/>
          <a:p>
            <a:r>
              <a:t>Bullets:</a:t>
            </a:r>
          </a:p>
          <a:p>
            <a:r>
              <a:t>  • Objetivo: conectar LLMs aos seus dados privados</a:t>
            </a:r>
          </a:p>
          <a:p>
            <a:r>
              <a:t>  • Arquitetura mais comum em produção</a:t>
            </a:r>
          </a:p>
          <a:p>
            <a:r>
              <a:t>  • Pipeline: Ingestão → Store → Retrieve → Generate</a:t>
            </a:r>
          </a:p>
          <a:p>
            <a:r>
              <a:t>  • Avaliação e observabilidade como parte do sistema</a:t>
            </a:r>
          </a:p>
          <a:p/>
          <a:p>
            <a:r>
              <a:t>Mensagem principal: RAG é um sistema: dados, busca, geração e validação contínuas.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Resumir os componentes técnicos do Bloco 2 em categorias de arquitetura.</a:t>
            </a:r>
          </a:p>
          <a:p/>
          <a:p>
            <a:r>
              <a:t>Bullets:</a:t>
            </a:r>
          </a:p>
          <a:p>
            <a:r>
              <a:t>  • Ingestão/ETL e chunking (fixed/recursive/semantic) + metadados</a:t>
            </a:r>
          </a:p>
          <a:p>
            <a:r>
              <a:t>  • Embeddings (modelos OpenAI vs open-source) e suporte a multimodalidade linguística</a:t>
            </a:r>
          </a:p>
          <a:p>
            <a:r>
              <a:t>  • Vector DBs (Qdrant/pgvector) e indexação (HNSW) com tradeoffs</a:t>
            </a:r>
          </a:p>
          <a:p>
            <a:r>
              <a:t>  • Retrieval: hybrid search, reranking e query expansion</a:t>
            </a:r>
          </a:p>
          <a:p>
            <a:r>
              <a:t>  • RAG Agents e Graph RAG: busca orientada a ferramentas e conhecimento estruturado</a:t>
            </a:r>
          </a:p>
          <a:p>
            <a:r>
              <a:t>  • Avaliação (RAGAS/faithfulness) + tracing + produção (segurança/custos)</a:t>
            </a:r>
          </a:p>
          <a:p/>
          <a:p>
            <a:r>
              <a:t>Mensagem principal: Você aprende a operar qualidade de resposta com avaliação e monitoramento.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Introduzir o conceito de agente e orientar para orquestração e segurança em produção.</a:t>
            </a:r>
          </a:p>
          <a:p/>
          <a:p>
            <a:r>
              <a:t>Bullets:</a:t>
            </a:r>
          </a:p>
          <a:p>
            <a:r>
              <a:t>  • Agentes têm autonomia controlada</a:t>
            </a:r>
          </a:p>
          <a:p>
            <a:r>
              <a:t>  • Fronteira da Engenharia de IA (2026)</a:t>
            </a:r>
          </a:p>
          <a:p>
            <a:r>
              <a:t>  • Ferramentas + state machines (grafos) + guardrails</a:t>
            </a:r>
          </a:p>
          <a:p>
            <a:r>
              <a:t>  • Observabilidade e human-in-the-loop</a:t>
            </a:r>
          </a:p>
          <a:p/>
          <a:p>
            <a:r>
              <a:t>Mensagem principal: Agentes são sistemas: fluxo, memória, ferramentas, aprovações e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Organizar as competências do Bloco 3 em uma visão de arquitetura de agentes.</a:t>
            </a:r>
          </a:p>
          <a:p/>
          <a:p>
            <a:r>
              <a:t>Bullets:</a:t>
            </a:r>
          </a:p>
          <a:p>
            <a:r>
              <a:t>  • Workflow vs agente (loop de raciocínio) + padrões (ReAct/Plan-Solve/Reflection)</a:t>
            </a:r>
          </a:p>
          <a:p>
            <a:r>
              <a:t>  • Tool calling com schemas e structured outputs</a:t>
            </a:r>
          </a:p>
          <a:p>
            <a:r>
              <a:t>  • LangGraph: grafos de estado, loops, retries e persistência</a:t>
            </a:r>
          </a:p>
          <a:p>
            <a:r>
              <a:t>  • Memória: curto vs longo prazo (persistência e Vector DB)</a:t>
            </a:r>
          </a:p>
          <a:p>
            <a:r>
              <a:t>  • Integrações via MCP e desacoplamento modelo↔ferramenta</a:t>
            </a:r>
          </a:p>
          <a:p>
            <a:r>
              <a:t>  • Human-in-the-loop: aprovação, interrupção e auditoria</a:t>
            </a:r>
          </a:p>
          <a:p>
            <a:r>
              <a:t>  • Multi-agents: delegação e custo</a:t>
            </a:r>
          </a:p>
          <a:p>
            <a:r>
              <a:t>  • Guardrails e avaliação de trajetórias</a:t>
            </a:r>
          </a:p>
          <a:p>
            <a:r>
              <a:t>  • Produção: versionamento, deploy e monitoramento (tracing/métricas)</a:t>
            </a:r>
          </a:p>
          <a:p/>
          <a:p>
            <a:r>
              <a:t>Mensagem principal: Você controla autonomia e mede eficácia para colocar agentes no mundo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Mostrar por que OCR e inferência local/produção exigem engenharia real de pipeline e performance.</a:t>
            </a:r>
          </a:p>
          <a:p/>
          <a:p>
            <a:r>
              <a:t>Bullets:</a:t>
            </a:r>
          </a:p>
          <a:p>
            <a:r>
              <a:t>  • Rodar modelos eficiente, barata e confiavelmente</a:t>
            </a:r>
          </a:p>
          <a:p>
            <a:r>
              <a:t>  • Onde engenharia de software encontra “metal”</a:t>
            </a:r>
          </a:p>
          <a:p>
            <a:r>
              <a:t>  • OCR moderno: layout/tabelas/estrutura, não só texto</a:t>
            </a:r>
          </a:p>
          <a:p>
            <a:r>
              <a:t>  • Performance: GPU (VRAM), throughput e unit economics</a:t>
            </a:r>
          </a:p>
          <a:p/>
          <a:p>
            <a:r>
              <a:t>Mensagem principal: Pipeline &gt; modelo: você constrói sistemas que funcionam sob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Consolidar competências em OCR/document intelligence e inferência em produção.</a:t>
            </a:r>
          </a:p>
          <a:p/>
          <a:p>
            <a:r>
              <a:t>Bullets:</a:t>
            </a:r>
          </a:p>
          <a:p>
            <a:r>
              <a:t>  • OCR Fundamentals: layout, ruído, métricas (CER/WER) e limitações</a:t>
            </a:r>
          </a:p>
          <a:p>
            <a:r>
              <a:t>  • OCR Pipelines: pré/pós-processamento, chunking e tradeoffs custo/qualidade/velocidade</a:t>
            </a:r>
          </a:p>
          <a:p>
            <a:r>
              <a:t>  • Document Intelligence: fila, idempotência, retries e monitoramento de falhas</a:t>
            </a:r>
          </a:p>
          <a:p>
            <a:r>
              <a:t>  • Hugging Face na prática: formatos/quantização (FP16/INT8/GGUF/AWQ) e Transformers/tokenizers</a:t>
            </a:r>
          </a:p>
          <a:p>
            <a:r>
              <a:t>  • Ollama para prototipar e workflow local→staging</a:t>
            </a:r>
          </a:p>
          <a:p>
            <a:r>
              <a:t>  • vLLM: continuous batching/paged attention e serving via OpenAI-compatible API</a:t>
            </a:r>
          </a:p>
          <a:p>
            <a:r>
              <a:t>  • Hardware &amp; Performance: VRAM, quantização e economia de tokens</a:t>
            </a:r>
          </a:p>
          <a:p/>
          <a:p>
            <a:r>
              <a:t>Mensagem principal: Você transforma OCR e VLMs em produtos com custo e latência previsíveis.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Introduzir quando treinar e como evitar over-engineering (RAG/prompting vs fine-tuning).</a:t>
            </a:r>
          </a:p>
          <a:p/>
          <a:p>
            <a:r>
              <a:t>Bullets:</a:t>
            </a:r>
          </a:p>
          <a:p>
            <a:r>
              <a:t>  • Objetivo: saber quando treinar — e principalmente quando NÃO treinar</a:t>
            </a:r>
          </a:p>
          <a:p>
            <a:r>
              <a:t>  • Especialização como “última milha”</a:t>
            </a:r>
          </a:p>
          <a:p>
            <a:r>
              <a:t>  • Técnicas: LoRA/QLoRA e preparação de datasets</a:t>
            </a:r>
          </a:p>
          <a:p>
            <a:r>
              <a:t>  • Deploy, riscos e governança</a:t>
            </a:r>
          </a:p>
          <a:p/>
          <a:p>
            <a:r>
              <a:t>Mensagem principal: Fine-tuning é decisão de engenharia: qualidade, custo e manutenção.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Resumir o ciclo end-to-end de fine-tuning e como avaliar antes de deploy.</a:t>
            </a:r>
          </a:p>
          <a:p/>
          <a:p>
            <a:r>
              <a:t>Bullets:</a:t>
            </a:r>
          </a:p>
          <a:p>
            <a:r>
              <a:t>  • Fine-tuning vs RAG/prompting: matriz de decisão</a:t>
            </a:r>
          </a:p>
          <a:p>
            <a:r>
              <a:t>  • Tipos de adaptação: PEFT, LoRA, QLoRA e full fine-tuning</a:t>
            </a:r>
          </a:p>
          <a:p>
            <a:r>
              <a:t>  • Unsloth: workflow eficiente (notebook→GGUF/adapter)</a:t>
            </a:r>
          </a:p>
          <a:p>
            <a:r>
              <a:t>  • Dataset engineering: instruction datasets + formatação</a:t>
            </a:r>
          </a:p>
          <a:p>
            <a:r>
              <a:t>  • Avaliação: baselines e LLM-as-a-Judge (ex.: GPT-4 como juiz)</a:t>
            </a:r>
          </a:p>
          <a:p>
            <a:r>
              <a:t>  • Deploy: adapters no vLLM, merge (quando e por quê)</a:t>
            </a:r>
          </a:p>
          <a:p>
            <a:r>
              <a:t>  • Produção: ops/custos, riscos (catastrophic forgetting) e compliance</a:t>
            </a:r>
          </a:p>
          <a:p/>
          <a:p>
            <a:r>
              <a:t>Mensagem principal: Você aprende a projetar especialização com métricas, avaliação e governança.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Consolidar como os blocos se conectam para construir soluções de IA em produção.</a:t>
            </a:r>
          </a:p>
          <a:p/>
          <a:p>
            <a:r>
              <a:t>Bullets:</a:t>
            </a:r>
          </a:p>
          <a:p>
            <a:r>
              <a:t>  • Fundamentos: contratos, APIs e dados (confiabilidade base)</a:t>
            </a:r>
          </a:p>
          <a:p>
            <a:r>
              <a:t>  • RAG: pipeline completo + avaliação/observabilidade</a:t>
            </a:r>
          </a:p>
          <a:p>
            <a:r>
              <a:t>  • Agentes: orquestração, memória, ferramentas e guardrails</a:t>
            </a:r>
          </a:p>
          <a:p>
            <a:r>
              <a:t>  • OCR/Infra: performance, filas, serving e unit economics</a:t>
            </a:r>
          </a:p>
          <a:p>
            <a:r>
              <a:t>  • Fine-tuning: decisão, adaptação eficiente e governança</a:t>
            </a:r>
          </a:p>
          <a:p/>
          <a:p>
            <a:r>
              <a:t>Mensagem principal: Você termina capaz de projetar e operar sistemas de IA completos.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Trilha Completa: Engenharia de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Abrir com um gancho comercial conectando engenharia aplicada à Jornada de Dados.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Sistemas de IA, RAG e agentes em produção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Arquitetura, orquestração, observabilidade e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De desenvolvedor → AI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Uma formação prática para transformar modelos em produtos confiáveis.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C2CB"/>
                </a:solidFill>
              </a:rPr>
              <a:t>Sobre você (e sobre como pensar como AI Engineer)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Você vai construir sistemas de IA que funcionam no mundo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Structured outputs + guardrails para reduzir fragilidade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RAG com avaliação/observabilidade para manter qualidade contínua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29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Agentes orquestrados com memória, ferramentas e human-in-the-loop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C2CB"/>
                </a:solidFill>
              </a:rPr>
              <a:t>Eu trago uma mentalidade de engenharia: qualidade, custo e governança.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Quem é o AI Engineer e o que você vai construir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Definir o papel do AI Engineer e explicar como a trilha reduz o hype e foca em produção.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AI Engineer: arquiteta contexto, dados, fluxos e validações para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Transformar probabilístico → determinístico e confiável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Domínios práticos: Python assíncrono, APIs, dados, Vector DB, observabilidade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Desafios reais: alucinações, custos, latência e segurança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Você não aprende só a promptar: aprende a operar sistemas de 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1 — Fundamentos: engenharia para sistemas probabilísticos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Situar o Bloco 1 e mostrar as competências técnicas-base para produção.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Base técnica para sistemas probabilísticos, assíncronos e orientados a produção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Contratos estruturados para outputs de LLM (Pydantic/JSON Schema)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APIs assíncronas e integração com RAG/Modelos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Armazenamento híbrido: SQL + Vector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Fundamentos de software robusto com núcleo probabilístico e dependências externas.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Bloco 1 — O que aprender (síntese por competências)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Consolidar os principais temas do Bloco 1 em um plano executável.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Papel profissional e mindset de produto/sistemas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Física dos LLMs + estratégias (quando RAG vs fine-tuning)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Python moderno: tipagem, AsyncIO, resiliência (retries)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FastAPI: contratos, validação e OpenAPI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Modelagem e contratos de dados: schemas, validadores e parsing com retries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Databases: embeddings, métricas (cosseno/dot) e arquitetura híbrida SQL+Vetorial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Você cria a “infra de confiabilidade” para sustentar LLMs em produção.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2 — RAG: conectar LLMs a dados privados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Definir RAG e preparar o aluno para ingestion, retrieval, avaliação e deploy.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Objetivo: conectar LLMs aos seus dados privados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Arquitetura mais comum em produção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Pipeline: Ingestão → Store → Retrieve → Generate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Avaliação e observabilidade como parte do 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RAG é um sistema: dados, busca, geração e validação contínuas.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Bloco 2 — O que aprender (síntese por pipeline)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Resumir os componentes técnicos do Bloco 2 em categorias de arquitetura.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Ingestão/ETL e chunking (fixed/recursive/semantic) + metadados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Embeddings (modelos OpenAI vs open-source) e suporte a multimodalidade linguística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Vector DBs (Qdrant/pgvector) e indexação (HNSW) com tradeoffs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Retrieval: hybrid search, reranking e query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RAG Agents e Graph RAG: busca orientada a ferramentas e conhecimento estruturado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Avaliação (RAGAS/faithfulness) + tracing + produção (segurança/custos)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Você aprende a operar qualidade de resposta com avaliação e monitoramento.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3 — Agentes de IA: raciocinar, decidir e agir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Introduzir o conceito de agente e orientar para orquestração e segurança em produção.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Agentes têm autonomia controlada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Fronteira da Engenharia de IA (2026)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Ferramentas + state machines (grafos) +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Observabilidade e human-in-the-loop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Agentes são sistemas: fluxo, memória, ferramentas, aprovações e métricas.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Bloco 3 — O que aprender (síntese por design)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Organizar as competências do Bloco 3 em uma visão de arquitetura de agentes.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Workflow vs agente (loop de raciocínio) + padrões (ReAct/Plan-Solve/Reflection)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Tool calling com schemas e structured outputs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LangGraph: grafos de estado, loops, retries e persistência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Memória: curto vs longo prazo (persistência e Vector DB)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Integrações via MCP e desacoplamento modelo↔ferramenta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Human-in-the-loop: aprovação, interrupção e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47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Multi-agents: delegação e custo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1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Guardrails e avaliação de trajetórias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8075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Produção: versionamento, deploy e monitoramento (tracing/métricas)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Você controla autonomia e mede eficácia para colocar agentes no mundo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4 — Infra, OCR e modelos: inferência eficiente e confiável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Mostrar por que OCR e inferência local/produção exigem engenharia real de pipeline e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Rodar modelos eficiente, barata e confiavelmente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Onde engenharia de software encontra “metal”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OCR moderno: layout/tabelas/estrutura, não só 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Performance: GPU (VRAM), throughput e unit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Pipeline &gt; modelo: você constrói sistemas que funcionam sob carga.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Bloco 4 — O que aprender (síntese de infra + OCR)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Consolidar competências em OCR/document intelligence e inferência em produção.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OCR Fundamentals: layout, ruído, métricas (CER/WER) e 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OCR Pipelines: pré/pós-processamento, chunking e tradeoffs custo/qualidade/velocidade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Document Intelligence: fila, idempotência, retries e monitoramento de falhas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Hugging Face na prática: formatos/quantização (FP16/INT8/GGUF/AWQ) e Transformers/tokenizers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Ollama para prototipar e workflow local→staging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vLLM: continuous batching/paged attention e serving via OpenAI-compatible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47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Hardware &amp; Performance: VRAM, quantização e economia de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Você transforma OCR e VLMs em produtos com custo e latência previsíveis.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5 — Fine-Tuning: especialização com consciência de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Introduzir quando treinar e como evitar over-engineering (RAG/prompting vs fine-tuning).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Objetivo: saber quando treinar — e principalmente quando NÃO treinar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Especialização como “última milha”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Técnicas: LoRA/QLoRA e preparação de datasets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Deploy, riscos e governança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Fine-tuning é decisão de engenharia: qualidade, custo e manutenção.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Bloco 5 — O que aprender (síntese de ciclo completo)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Resumir o ciclo end-to-end de fine-tuning e como avaliar antes de deploy.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Fine-tuning vs RAG/prompting: matriz de 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Tipos de adaptação: PEFT, LoRA, QLoRA e full fine-tuning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Unsloth: workflow eficiente (notebook→GGUF/adapter)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Dataset engineering: instruction datasets + formatação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Avaliação: baselines e LLM-as-a-Judge (ex.: GPT-4 como juiz)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Deploy: adapters no vLLM, merge (quando e por quê)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47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Produção: ops/custos, riscos (catastrophic forgetting) e 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Você aprende a projetar especialização com métricas, avaliação e governança.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C2CB"/>
                </a:solidFill>
              </a:rPr>
              <a:t>Fechamento: do conceito ao sistema operável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Fundamentos: contratos, APIs e dados (confiabilidade 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RAG: pipeline completo + avaliação/observabilidade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Agentes: orquestração, memória, ferramentas e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7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OCR/Infra: performance, filas, serving e unit economics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Fine-tuning: decisão, adaptação eficiente e governança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C2CB"/>
                </a:solidFill>
              </a:rPr>
              <a:t>Você termina capaz de projetar e operar sistemas de IA completos.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